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8046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C2D40"/>
                </a:solidFill>
                <a:latin typeface="Aptos"/>
              </a:rPr>
              <a:t>Customer Churn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47088"/>
            <a:ext cx="80467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C2D40"/>
                </a:solidFill>
                <a:latin typeface="Aptos"/>
              </a:rPr>
              <a:t>&amp; Retention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697480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5C656F"/>
                </a:solidFill>
                <a:latin typeface="Aptos"/>
              </a:rPr>
              <a:t>Using customer data and machine learning to identify churn risk early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3794760"/>
            <a:ext cx="2926080" cy="411480"/>
          </a:xfrm>
          <a:prstGeom prst="roundRect">
            <a:avLst/>
          </a:prstGeom>
          <a:solidFill>
            <a:srgbClr val="E5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3886200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766A0"/>
                </a:solidFill>
                <a:latin typeface="Aptos"/>
              </a:rPr>
              <a:t>BUSINESS / PORTFOLIO CASE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461772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3262A"/>
                </a:solidFill>
                <a:latin typeface="Aptos"/>
              </a:rPr>
              <a:t>Subscription-based digital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0474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C656F"/>
                </a:solidFill>
                <a:latin typeface="Aptos"/>
              </a:rPr>
              <a:t>Data Science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56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C2D40"/>
                </a:solidFill>
                <a:latin typeface="Aptos"/>
              </a:rPr>
              <a:t>The 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56F"/>
                </a:solidFill>
                <a:latin typeface="Aptos"/>
              </a:rPr>
              <a:t>Churn is easier to manage when risky customers are identified before they leave.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53312"/>
            <a:ext cx="10927080" cy="22860"/>
          </a:xfrm>
          <a:prstGeom prst="rect">
            <a:avLst/>
          </a:prstGeom>
          <a:solidFill>
            <a:srgbClr val="E5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66A0"/>
                </a:solidFill>
                <a:latin typeface="Aptos"/>
              </a:rPr>
              <a:t>The 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7040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1C2D40"/>
                </a:solidFill>
                <a:latin typeface="Aptos"/>
              </a:rPr>
              <a:t>Move from reactive churn management to proactive retention.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88036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3262A"/>
                </a:solidFill>
                <a:latin typeface="Aptos"/>
              </a:defRPr>
            </a:pPr>
            <a:r>
              <a:t>• Find customer patterns associated with churn.</a:t>
            </a:r>
          </a:p>
          <a:p>
            <a:pPr>
              <a:spcAft>
                <a:spcPts val="900"/>
              </a:spcAft>
              <a:defRPr sz="1500">
                <a:solidFill>
                  <a:srgbClr val="23262A"/>
                </a:solidFill>
                <a:latin typeface="Aptos"/>
              </a:defRPr>
            </a:pPr>
            <a:r>
              <a:t>• Build a model that flags customers more likely to leave.</a:t>
            </a:r>
          </a:p>
          <a:p>
            <a:pPr>
              <a:spcAft>
                <a:spcPts val="900"/>
              </a:spcAft>
              <a:defRPr sz="1500">
                <a:solidFill>
                  <a:srgbClr val="23262A"/>
                </a:solidFill>
                <a:latin typeface="Aptos"/>
              </a:defRPr>
            </a:pPr>
            <a:r>
              <a:t>• Turn predictions into practical retention 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828800"/>
            <a:ext cx="3337560" cy="1325880"/>
          </a:xfrm>
          <a:prstGeom prst="roundRect">
            <a:avLst/>
          </a:prstGeom>
          <a:solidFill>
            <a:srgbClr val="F2F4F6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828800"/>
            <a:ext cx="64008" cy="1325880"/>
          </a:xfrm>
          <a:prstGeom prst="rect">
            <a:avLst/>
          </a:prstGeom>
          <a:solidFill>
            <a:srgbClr val="37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7848" y="199339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5C656F"/>
                </a:solidFill>
                <a:latin typeface="Aptos"/>
              </a:rPr>
              <a:t>CUSTOMERS IN 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7848" y="2331720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C2D40"/>
                </a:solidFill>
                <a:latin typeface="Aptos"/>
              </a:rPr>
              <a:t>7,043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7848" y="2852928"/>
            <a:ext cx="30175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C656F"/>
                </a:solidFill>
                <a:latin typeface="Aptos"/>
              </a:rPr>
              <a:t>Customer records used for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3429000"/>
            <a:ext cx="3337560" cy="1325880"/>
          </a:xfrm>
          <a:prstGeom prst="roundRect">
            <a:avLst/>
          </a:prstGeom>
          <a:solidFill>
            <a:srgbClr val="F2F4F6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26679" y="3429000"/>
            <a:ext cx="64008" cy="1325880"/>
          </a:xfrm>
          <a:prstGeom prst="rect">
            <a:avLst/>
          </a:prstGeom>
          <a:solidFill>
            <a:srgbClr val="438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7848" y="359359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5C656F"/>
                </a:solidFill>
                <a:latin typeface="Aptos"/>
              </a:rPr>
              <a:t>MODELING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7848" y="3931920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C2D40"/>
                </a:solidFill>
                <a:latin typeface="Aptos"/>
              </a:rPr>
              <a:t>6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7848" y="4453128"/>
            <a:ext cx="30175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C656F"/>
                </a:solidFill>
                <a:latin typeface="Aptos"/>
              </a:rPr>
              <a:t>Baseline + tuned model comparison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5029200"/>
            <a:ext cx="3337560" cy="914400"/>
          </a:xfrm>
          <a:prstGeom prst="roundRect">
            <a:avLst/>
          </a:prstGeom>
          <a:solidFill>
            <a:srgbClr val="F2F4F6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26679" y="5029200"/>
            <a:ext cx="64008" cy="914400"/>
          </a:xfrm>
          <a:prstGeom prst="rect">
            <a:avLst/>
          </a:prstGeom>
          <a:solidFill>
            <a:srgbClr val="BE8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7848" y="519379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5C656F"/>
                </a:solidFill>
                <a:latin typeface="Aptos"/>
              </a:rPr>
              <a:t>BUSINESS FOCUS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7848" y="5532120"/>
            <a:ext cx="3017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C2D40"/>
                </a:solidFill>
                <a:latin typeface="Aptos"/>
              </a:rPr>
              <a:t>Retention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7848" y="6053328"/>
            <a:ext cx="3017520" cy="-16459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C656F"/>
                </a:solidFill>
                <a:latin typeface="Aptos"/>
              </a:rPr>
              <a:t>Catch likely churners, not just maximize accuracy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56F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C2D40"/>
                </a:solidFill>
                <a:latin typeface="Aptos"/>
              </a:rPr>
              <a:t>Data &amp;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56F"/>
                </a:solidFill>
                <a:latin typeface="Aptos"/>
              </a:rPr>
              <a:t>A practical pipeline from raw customer records to an actionable risk score.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53312"/>
            <a:ext cx="10927080" cy="22860"/>
          </a:xfrm>
          <a:prstGeom prst="rect">
            <a:avLst/>
          </a:prstGeom>
          <a:solidFill>
            <a:srgbClr val="E5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901952" cy="2514600"/>
          </a:xfrm>
          <a:prstGeom prst="roundRect">
            <a:avLst/>
          </a:prstGeom>
          <a:solidFill>
            <a:srgbClr val="F2F4F6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99339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766A0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395728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2D40"/>
                </a:solidFill>
                <a:latin typeface="Aptos"/>
              </a:rPr>
              <a:t>Prepare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880360"/>
            <a:ext cx="157276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56F"/>
                </a:solidFill>
                <a:latin typeface="Aptos"/>
              </a:rPr>
              <a:t>Clean missing values,
check duplicates &amp; 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87752" y="278892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C656F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1" y="1828800"/>
            <a:ext cx="1901952" cy="2514600"/>
          </a:xfrm>
          <a:prstGeom prst="roundRect">
            <a:avLst/>
          </a:prstGeom>
          <a:solidFill>
            <a:srgbClr val="F2F4F6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72384" y="199339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766A0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2384" y="2395728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2D40"/>
                </a:solidFill>
                <a:latin typeface="Aptos"/>
              </a:rPr>
              <a:t>Engineer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2384" y="2880360"/>
            <a:ext cx="157276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56F"/>
                </a:solidFill>
                <a:latin typeface="Aptos"/>
              </a:rPr>
              <a:t>Spend + service usage
+ tenure groups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55464" y="278892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C656F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75504" y="1828800"/>
            <a:ext cx="1901952" cy="2514600"/>
          </a:xfrm>
          <a:prstGeom prst="roundRect">
            <a:avLst/>
          </a:prstGeom>
          <a:solidFill>
            <a:srgbClr val="F2F4F6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0096" y="199339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766A0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0096" y="2395728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2D40"/>
                </a:solidFill>
                <a:latin typeface="Aptos"/>
              </a:rPr>
              <a:t>Explore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0096" y="2880360"/>
            <a:ext cx="157276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56F"/>
                </a:solidFill>
                <a:latin typeface="Aptos"/>
              </a:rPr>
              <a:t>Find churn patterns
across customer groups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23176" y="278892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C656F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43215" y="1828800"/>
            <a:ext cx="1901952" cy="2514600"/>
          </a:xfrm>
          <a:prstGeom prst="roundRect">
            <a:avLst/>
          </a:prstGeom>
          <a:solidFill>
            <a:srgbClr val="F2F4F6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7807" y="199339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766A0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7807" y="2395728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2D40"/>
                </a:solidFill>
                <a:latin typeface="Aptos"/>
              </a:rPr>
              <a:t>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7807" y="2880360"/>
            <a:ext cx="157276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56F"/>
                </a:solidFill>
                <a:latin typeface="Aptos"/>
              </a:rPr>
              <a:t>Logistic Regression,
Decision Tree, RF, XGBoost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90888" y="278892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C656F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10928" y="1828800"/>
            <a:ext cx="1901952" cy="2514600"/>
          </a:xfrm>
          <a:prstGeom prst="roundRect">
            <a:avLst/>
          </a:prstGeom>
          <a:solidFill>
            <a:srgbClr val="F2F4F6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19" y="1993392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766A0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19" y="2395728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C2D40"/>
                </a:solidFill>
                <a:latin typeface="Aptos"/>
              </a:rPr>
              <a:t>Prioritize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19" y="2880360"/>
            <a:ext cx="157276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56F"/>
                </a:solidFill>
                <a:latin typeface="Aptos"/>
              </a:rPr>
              <a:t>Risk score + high/
medium/low segments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8920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766A0"/>
                </a:solidFill>
                <a:latin typeface="Aptos"/>
              </a:rPr>
              <a:t>Leakage controls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74519" y="4864608"/>
            <a:ext cx="8961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3262A"/>
                </a:solidFill>
                <a:latin typeface="Aptos"/>
              </a:rPr>
              <a:t>Churn-derived fields such as Churn Score, Churn Value and Churn Reason were excluded from modeling.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56F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C2D40"/>
                </a:solidFill>
                <a:latin typeface="Aptos"/>
              </a:rPr>
              <a:t>What the data tells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56F"/>
                </a:solidFill>
                <a:latin typeface="Aptos"/>
              </a:rPr>
              <a:t>The strongest signals are linked to contract type, tenure, service mix and support.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53312"/>
            <a:ext cx="10927080" cy="22860"/>
          </a:xfrm>
          <a:prstGeom prst="rect">
            <a:avLst/>
          </a:prstGeom>
          <a:solidFill>
            <a:srgbClr val="E5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766A0"/>
                </a:solidFill>
                <a:latin typeface="Aptos"/>
              </a:rPr>
              <a:t>Patterns worth paying attention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14884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C2D40"/>
                </a:solidFill>
                <a:latin typeface="Aptos"/>
              </a:rPr>
              <a:t>Contract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48840"/>
            <a:ext cx="47091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56F"/>
                </a:solidFill>
                <a:latin typeface="Aptos"/>
              </a:rPr>
              <a:t>Month-to-month customers show the clearest churn risk.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843784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C2D40"/>
                </a:solidFill>
                <a:latin typeface="Aptos"/>
              </a:rPr>
              <a:t>Tenure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843784"/>
            <a:ext cx="47091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56F"/>
                </a:solidFill>
                <a:latin typeface="Aptos"/>
              </a:rPr>
              <a:t>Newer customers are more vulnerable; longer tenure is generally protective.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538728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C2D40"/>
                </a:solidFill>
                <a:latin typeface="Aptos"/>
              </a:rPr>
              <a:t>Internet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538728"/>
            <a:ext cx="47091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56F"/>
                </a:solidFill>
                <a:latin typeface="Aptos"/>
              </a:rPr>
              <a:t>Fiber optic customers appear more exposed to churn.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233672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C2D40"/>
                </a:solidFill>
                <a:latin typeface="Aptos"/>
              </a:rPr>
              <a:t>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233672"/>
            <a:ext cx="47091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56F"/>
                </a:solidFill>
                <a:latin typeface="Aptos"/>
              </a:rPr>
              <a:t>Lack of tech support and online security is associated with higher risk.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928616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C2D40"/>
                </a:solidFill>
                <a:latin typeface="Aptos"/>
              </a:rPr>
              <a:t>Billing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928616"/>
            <a:ext cx="470916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56F"/>
                </a:solidFill>
                <a:latin typeface="Aptos"/>
              </a:rPr>
              <a:t>Electronic check and higher monthly charges appear among important risk signals.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6459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766A0"/>
                </a:solidFill>
                <a:latin typeface="Aptos"/>
              </a:rPr>
              <a:t>Top model-explanation signals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4032" y="2084831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3262A"/>
                </a:solidFill>
                <a:latin typeface="Aptos"/>
              </a:rPr>
              <a:t>Month-to-month contract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64040" y="2112263"/>
            <a:ext cx="1645920" cy="164592"/>
          </a:xfrm>
          <a:prstGeom prst="rect">
            <a:avLst/>
          </a:prstGeom>
          <a:solidFill>
            <a:srgbClr val="37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14032" y="2478024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3262A"/>
                </a:solidFill>
                <a:latin typeface="Aptos"/>
              </a:rPr>
              <a:t>Fiber optic internet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64040" y="2505456"/>
            <a:ext cx="1497787" cy="164592"/>
          </a:xfrm>
          <a:prstGeom prst="rect">
            <a:avLst/>
          </a:prstGeom>
          <a:solidFill>
            <a:srgbClr val="37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4032" y="2871216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3262A"/>
                </a:solidFill>
                <a:latin typeface="Aptos"/>
              </a:rPr>
              <a:t>Customer tenure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64040" y="2898648"/>
            <a:ext cx="1382572" cy="164592"/>
          </a:xfrm>
          <a:prstGeom prst="rect">
            <a:avLst/>
          </a:prstGeom>
          <a:solidFill>
            <a:srgbClr val="37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14032" y="3264408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3262A"/>
                </a:solidFill>
                <a:latin typeface="Aptos"/>
              </a:rPr>
              <a:t>Two-year contract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64040" y="3291840"/>
            <a:ext cx="1152144" cy="164592"/>
          </a:xfrm>
          <a:prstGeom prst="rect">
            <a:avLst/>
          </a:prstGeom>
          <a:solidFill>
            <a:srgbClr val="37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14032" y="3657600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3262A"/>
                </a:solidFill>
                <a:latin typeface="Aptos"/>
              </a:rPr>
              <a:t>No tech support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64040" y="3685032"/>
            <a:ext cx="1053388" cy="164592"/>
          </a:xfrm>
          <a:prstGeom prst="rect">
            <a:avLst/>
          </a:prstGeom>
          <a:solidFill>
            <a:srgbClr val="37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14032" y="4050791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3262A"/>
                </a:solidFill>
                <a:latin typeface="Aptos"/>
              </a:rPr>
              <a:t>No dependents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64040" y="4078224"/>
            <a:ext cx="938174" cy="164592"/>
          </a:xfrm>
          <a:prstGeom prst="rect">
            <a:avLst/>
          </a:prstGeom>
          <a:solidFill>
            <a:srgbClr val="37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14032" y="4443983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3262A"/>
                </a:solidFill>
                <a:latin typeface="Aptos"/>
              </a:rPr>
              <a:t>No online security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64040" y="4471416"/>
            <a:ext cx="888796" cy="164592"/>
          </a:xfrm>
          <a:prstGeom prst="rect">
            <a:avLst/>
          </a:prstGeom>
          <a:solidFill>
            <a:srgbClr val="37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14032" y="4837175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3262A"/>
                </a:solidFill>
                <a:latin typeface="Aptos"/>
              </a:rPr>
              <a:t>New tenure group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64040" y="4864607"/>
            <a:ext cx="822960" cy="164592"/>
          </a:xfrm>
          <a:prstGeom prst="rect">
            <a:avLst/>
          </a:prstGeom>
          <a:solidFill>
            <a:srgbClr val="37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14032" y="5230367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3262A"/>
                </a:solidFill>
                <a:latin typeface="Aptos"/>
              </a:rPr>
              <a:t>Electronic check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64040" y="5257799"/>
            <a:ext cx="757123" cy="164592"/>
          </a:xfrm>
          <a:prstGeom prst="rect">
            <a:avLst/>
          </a:prstGeom>
          <a:solidFill>
            <a:srgbClr val="37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14032" y="5623559"/>
            <a:ext cx="2331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3262A"/>
                </a:solidFill>
                <a:latin typeface="Aptos"/>
              </a:rPr>
              <a:t>Monthly charges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64040" y="5650991"/>
            <a:ext cx="691286" cy="164592"/>
          </a:xfrm>
          <a:prstGeom prst="rect">
            <a:avLst/>
          </a:prstGeom>
          <a:solidFill>
            <a:srgbClr val="37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14032" y="5989320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C656F"/>
                </a:solidFill>
                <a:latin typeface="Aptos"/>
              </a:rPr>
              <a:t>These are model explanation signals, not proof of causation.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56F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C2D40"/>
                </a:solidFill>
                <a:latin typeface="Aptos"/>
              </a:rPr>
              <a:t>Which model should we use?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56F"/>
                </a:solidFill>
                <a:latin typeface="Aptos"/>
              </a:rPr>
              <a:t>Accuracy alone is not enough when the goal is to catch customers at risk of leaving.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53312"/>
            <a:ext cx="10927080" cy="22860"/>
          </a:xfrm>
          <a:prstGeom prst="rect">
            <a:avLst/>
          </a:prstGeom>
          <a:solidFill>
            <a:srgbClr val="E5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766A0"/>
                </a:solidFill>
                <a:latin typeface="Aptos"/>
              </a:rPr>
              <a:t>Final model comparison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2057400"/>
          <a:ext cx="745236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1234440"/>
                <a:gridCol w="1234440"/>
                <a:gridCol w="1234440"/>
                <a:gridCol w="1417320"/>
              </a:tblGrid>
              <a:tr h="47679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C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C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C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C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1C2D40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62A"/>
                          </a:solidFill>
                          <a:latin typeface="Aptos"/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62A"/>
                          </a:solidFill>
                          <a:latin typeface="Aptos"/>
                        </a:defRPr>
                      </a:pPr>
                      <a:r>
                        <a:t>74.88%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62A"/>
                          </a:solidFill>
                          <a:latin typeface="Aptos"/>
                        </a:defRPr>
                      </a:pPr>
                      <a:r>
                        <a:t>51.75%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62A"/>
                          </a:solidFill>
                          <a:latin typeface="Aptos"/>
                        </a:defRPr>
                      </a:pPr>
                      <a:r>
                        <a:t>78.88%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62A"/>
                          </a:solidFill>
                          <a:latin typeface="Aptos"/>
                        </a:defRPr>
                      </a:pPr>
                      <a:r>
                        <a:t>62.50%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62A"/>
                          </a:solidFill>
                          <a:latin typeface="Aptos"/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62A"/>
                          </a:solidFill>
                          <a:latin typeface="Aptos"/>
                        </a:defRPr>
                      </a:pPr>
                      <a:r>
                        <a:t>73.95%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62A"/>
                          </a:solidFill>
                          <a:latin typeface="Aptos"/>
                        </a:defRPr>
                      </a:pPr>
                      <a:r>
                        <a:t>50.60%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62A"/>
                          </a:solidFill>
                          <a:latin typeface="Aptos"/>
                        </a:defRPr>
                      </a:pPr>
                      <a:r>
                        <a:t>79.14%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62A"/>
                          </a:solidFill>
                          <a:latin typeface="Aptos"/>
                        </a:defRPr>
                      </a:pPr>
                      <a:r>
                        <a:t>61.73%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62A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62A"/>
                          </a:solidFill>
                          <a:latin typeface="Aptos"/>
                        </a:defRPr>
                      </a:pPr>
                      <a:r>
                        <a:t>76.79%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62A"/>
                          </a:solidFill>
                          <a:latin typeface="Aptos"/>
                        </a:defRPr>
                      </a:pPr>
                      <a:r>
                        <a:t>54.49%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62A"/>
                          </a:solidFill>
                          <a:latin typeface="Aptos"/>
                        </a:defRPr>
                      </a:pPr>
                      <a:r>
                        <a:t>76.20%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62A"/>
                          </a:solidFill>
                          <a:latin typeface="Aptos"/>
                        </a:defRPr>
                      </a:pPr>
                      <a:r>
                        <a:t>63.55%</a:t>
                      </a:r>
                    </a:p>
                  </a:txBody>
                  <a:tcPr>
                    <a:solidFill>
                      <a:srgbClr val="F2F4F6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62A"/>
                          </a:solidFill>
                          <a:latin typeface="Aptos"/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62A"/>
                          </a:solidFill>
                          <a:latin typeface="Aptos"/>
                        </a:defRPr>
                      </a:pPr>
                      <a:r>
                        <a:t>80.84%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62A"/>
                          </a:solidFill>
                          <a:latin typeface="Aptos"/>
                        </a:defRPr>
                      </a:pPr>
                      <a:r>
                        <a:t>66.77%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62A"/>
                          </a:solidFill>
                          <a:latin typeface="Aptos"/>
                        </a:defRPr>
                      </a:pPr>
                      <a:r>
                        <a:t>55.35%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62A"/>
                          </a:solidFill>
                          <a:latin typeface="Aptos"/>
                        </a:defRPr>
                      </a:pPr>
                      <a:r>
                        <a:t>60.53%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62A"/>
                          </a:solidFill>
                          <a:latin typeface="Aptos"/>
                        </a:defRPr>
                      </a:pPr>
                      <a:r>
                        <a:t>Tuned Random Forest</a:t>
                      </a:r>
                    </a:p>
                  </a:txBody>
                  <a:tcPr>
                    <a:solidFill>
                      <a:srgbClr val="E5EE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62A"/>
                          </a:solidFill>
                          <a:latin typeface="Aptos"/>
                        </a:defRPr>
                      </a:pPr>
                      <a:r>
                        <a:t>75.87%</a:t>
                      </a:r>
                    </a:p>
                  </a:txBody>
                  <a:tcPr>
                    <a:solidFill>
                      <a:srgbClr val="E5EE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62A"/>
                          </a:solidFill>
                          <a:latin typeface="Aptos"/>
                        </a:defRPr>
                      </a:pPr>
                      <a:r>
                        <a:t>53.02%</a:t>
                      </a:r>
                    </a:p>
                  </a:txBody>
                  <a:tcPr>
                    <a:solidFill>
                      <a:srgbClr val="E5EE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62A"/>
                          </a:solidFill>
                          <a:latin typeface="Aptos"/>
                        </a:defRPr>
                      </a:pPr>
                      <a:r>
                        <a:t>79.68%</a:t>
                      </a:r>
                    </a:p>
                  </a:txBody>
                  <a:tcPr>
                    <a:solidFill>
                      <a:srgbClr val="E5EE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62A"/>
                          </a:solidFill>
                          <a:latin typeface="Aptos"/>
                        </a:defRPr>
                      </a:pPr>
                      <a:r>
                        <a:t>63.68%</a:t>
                      </a:r>
                    </a:p>
                  </a:txBody>
                  <a:tcPr>
                    <a:solidFill>
                      <a:srgbClr val="E5EEF7"/>
                    </a:solidFill>
                  </a:tcPr>
                </a:tc>
              </a:tr>
              <a:tr h="476796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23262A"/>
                          </a:solidFill>
                          <a:latin typeface="Aptos"/>
                        </a:defRPr>
                      </a:pPr>
                      <a:r>
                        <a:t>Tuned 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62A"/>
                          </a:solidFill>
                          <a:latin typeface="Aptos"/>
                        </a:defRPr>
                      </a:pPr>
                      <a:r>
                        <a:t>80.20%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62A"/>
                          </a:solidFill>
                          <a:latin typeface="Aptos"/>
                        </a:defRPr>
                      </a:pPr>
                      <a:r>
                        <a:t>65.37%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62A"/>
                          </a:solidFill>
                          <a:latin typeface="Aptos"/>
                        </a:defRPr>
                      </a:pPr>
                      <a:r>
                        <a:t>54.01%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23262A"/>
                          </a:solidFill>
                          <a:latin typeface="Aptos"/>
                        </a:defRPr>
                      </a:pPr>
                      <a:r>
                        <a:t>59.15%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458200" y="2057400"/>
            <a:ext cx="2788920" cy="1234440"/>
          </a:xfrm>
          <a:prstGeom prst="roundRect">
            <a:avLst/>
          </a:prstGeom>
          <a:solidFill>
            <a:srgbClr val="F2F4F6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58200" y="2057400"/>
            <a:ext cx="64008" cy="1234440"/>
          </a:xfrm>
          <a:prstGeom prst="rect">
            <a:avLst/>
          </a:prstGeom>
          <a:solidFill>
            <a:srgbClr val="376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59368" y="2221992"/>
            <a:ext cx="24688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5C656F"/>
                </a:solidFill>
                <a:latin typeface="Aptos"/>
              </a:rPr>
              <a:t>SELECTED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59368" y="2560320"/>
            <a:ext cx="24688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C2D40"/>
                </a:solidFill>
                <a:latin typeface="Aptos"/>
              </a:rPr>
              <a:t>Tuned Random Forest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9368" y="3081528"/>
            <a:ext cx="2468879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C656F"/>
                </a:solidFill>
                <a:latin typeface="Aptos"/>
              </a:rPr>
              <a:t>Best F1: 63.68%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3520440"/>
            <a:ext cx="2788920" cy="1234440"/>
          </a:xfrm>
          <a:prstGeom prst="roundRect">
            <a:avLst/>
          </a:prstGeom>
          <a:solidFill>
            <a:srgbClr val="F2F4F6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58200" y="3520440"/>
            <a:ext cx="64008" cy="1234440"/>
          </a:xfrm>
          <a:prstGeom prst="rect">
            <a:avLst/>
          </a:prstGeom>
          <a:solidFill>
            <a:srgbClr val="438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59368" y="3685032"/>
            <a:ext cx="24688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5C656F"/>
                </a:solidFill>
                <a:latin typeface="Aptos"/>
              </a:rPr>
              <a:t>RECALL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9368" y="4023360"/>
            <a:ext cx="24688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C2D40"/>
                </a:solidFill>
                <a:latin typeface="Aptos"/>
              </a:rPr>
              <a:t>79.68%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9368" y="4544568"/>
            <a:ext cx="2468879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C656F"/>
                </a:solidFill>
                <a:latin typeface="Aptos"/>
              </a:rPr>
              <a:t>Better chance of catching churners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4983480"/>
            <a:ext cx="2788920" cy="960120"/>
          </a:xfrm>
          <a:prstGeom prst="roundRect">
            <a:avLst/>
          </a:prstGeom>
          <a:solidFill>
            <a:srgbClr val="F2F4F6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58200" y="4983480"/>
            <a:ext cx="64008" cy="960120"/>
          </a:xfrm>
          <a:prstGeom prst="rect">
            <a:avLst/>
          </a:prstGeom>
          <a:solidFill>
            <a:srgbClr val="BE8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5148072"/>
            <a:ext cx="24688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5C656F"/>
                </a:solidFill>
                <a:latin typeface="Aptos"/>
              </a:rPr>
              <a:t>ROC-AUC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5486400"/>
            <a:ext cx="24688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C2D40"/>
                </a:solidFill>
                <a:latin typeface="Aptos"/>
              </a:rPr>
              <a:t>85.20%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6007608"/>
            <a:ext cx="2468879" cy="-1188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C656F"/>
                </a:solidFill>
                <a:latin typeface="Aptos"/>
              </a:rPr>
              <a:t>Strong ranking 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742432"/>
            <a:ext cx="1554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C2D40"/>
                </a:solidFill>
                <a:latin typeface="Aptos"/>
              </a:rPr>
              <a:t>Why not XGBoost?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93392" y="5705856"/>
            <a:ext cx="8412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56F"/>
                </a:solidFill>
                <a:latin typeface="Aptos"/>
              </a:rPr>
              <a:t>Higher accuracy (80.84%) but recall falls to 55.35% — a weaker fit for retention.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56F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C2D40"/>
                </a:solidFill>
                <a:latin typeface="Aptos"/>
              </a:rPr>
              <a:t>Who should we target?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56F"/>
                </a:solidFill>
                <a:latin typeface="Aptos"/>
              </a:rPr>
              <a:t>The model converts probability into a simple prioritization system for retention.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53312"/>
            <a:ext cx="10927080" cy="22860"/>
          </a:xfrm>
          <a:prstGeom prst="rect">
            <a:avLst/>
          </a:prstGeom>
          <a:solidFill>
            <a:srgbClr val="E5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3154680" cy="1371600"/>
          </a:xfrm>
          <a:prstGeom prst="roundRect">
            <a:avLst/>
          </a:prstGeom>
          <a:solidFill>
            <a:srgbClr val="F2F4F6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64008" cy="1371600"/>
          </a:xfrm>
          <a:prstGeom prst="rect">
            <a:avLst/>
          </a:prstGeom>
          <a:solidFill>
            <a:srgbClr val="B2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0195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5C656F"/>
                </a:solidFill>
                <a:latin typeface="Aptos"/>
              </a:rPr>
              <a:t>HIGH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4028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C2D40"/>
                </a:solidFill>
                <a:latin typeface="Aptos"/>
              </a:rPr>
              <a:t>1,557  •  22.1%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761488"/>
            <a:ext cx="2834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C656F"/>
                </a:solidFill>
                <a:latin typeface="Aptos"/>
              </a:rPr>
              <a:t>Probability ≥ 70%
Priority for proactive intervention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1737360"/>
            <a:ext cx="3154680" cy="1371600"/>
          </a:xfrm>
          <a:prstGeom prst="roundRect">
            <a:avLst/>
          </a:prstGeom>
          <a:solidFill>
            <a:srgbClr val="F2F4F6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9080" y="1737360"/>
            <a:ext cx="64008" cy="1371600"/>
          </a:xfrm>
          <a:prstGeom prst="rect">
            <a:avLst/>
          </a:prstGeom>
          <a:solidFill>
            <a:srgbClr val="BE8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0248" y="190195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5C656F"/>
                </a:solidFill>
                <a:latin typeface="Aptos"/>
              </a:rPr>
              <a:t>MEDIUM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0248" y="224028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C2D40"/>
                </a:solidFill>
                <a:latin typeface="Aptos"/>
              </a:rPr>
              <a:t>1,845  •  26.2%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0248" y="2761488"/>
            <a:ext cx="2834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C656F"/>
                </a:solidFill>
                <a:latin typeface="Aptos"/>
              </a:rPr>
              <a:t>Probability 40%–&lt;70%
Monitor and test lighter offers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1737360"/>
            <a:ext cx="3154680" cy="1371600"/>
          </a:xfrm>
          <a:prstGeom prst="roundRect">
            <a:avLst/>
          </a:prstGeom>
          <a:solidFill>
            <a:srgbClr val="F2F4F6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52360" y="1737360"/>
            <a:ext cx="64008" cy="1371600"/>
          </a:xfrm>
          <a:prstGeom prst="rect">
            <a:avLst/>
          </a:prstGeom>
          <a:solidFill>
            <a:srgbClr val="438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53528" y="1901952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5C656F"/>
                </a:solidFill>
                <a:latin typeface="Aptos"/>
              </a:rPr>
              <a:t>LOW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8" y="224028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C2D40"/>
                </a:solidFill>
                <a:latin typeface="Aptos"/>
              </a:rPr>
              <a:t>3,641  •  51.7%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3528" y="2761488"/>
            <a:ext cx="28346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C656F"/>
                </a:solidFill>
                <a:latin typeface="Aptos"/>
              </a:rPr>
              <a:t>Probability &lt; 40%
Maintain normal engagement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65760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766A0"/>
                </a:solidFill>
                <a:latin typeface="Aptos"/>
              </a:rPr>
              <a:t>A useful way to act on the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160520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C2D40"/>
                </a:solidFill>
                <a:latin typeface="Aptos"/>
              </a:rP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1605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3262A"/>
                </a:solidFill>
                <a:latin typeface="Aptos"/>
              </a:rPr>
              <a:t>Personal outreach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4160520"/>
            <a:ext cx="7223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56F"/>
                </a:solidFill>
                <a:latin typeface="Aptos"/>
              </a:rPr>
              <a:t>Retention call / tailored offer / service recovery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727448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C2D40"/>
                </a:solidFill>
                <a:latin typeface="Aptos"/>
              </a:rPr>
              <a:t>Medium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72744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3262A"/>
                </a:solidFill>
                <a:latin typeface="Aptos"/>
              </a:rPr>
              <a:t>Targeted engagement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4727448"/>
            <a:ext cx="7223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56F"/>
                </a:solidFill>
                <a:latin typeface="Aptos"/>
              </a:rPr>
              <a:t>Plan education, add-on recommendation, reminder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5294376"/>
            <a:ext cx="685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C2D40"/>
                </a:solidFill>
                <a:latin typeface="Aptos"/>
              </a:rPr>
              <a:t>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529437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3262A"/>
                </a:solidFill>
                <a:latin typeface="Aptos"/>
              </a:rPr>
              <a:t>Maintain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5294376"/>
            <a:ext cx="7223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C656F"/>
                </a:solidFill>
                <a:latin typeface="Aptos"/>
              </a:rPr>
              <a:t>Normal communication and cross-sell opportunities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5989320"/>
            <a:ext cx="9875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C656F"/>
                </a:solidFill>
                <a:latin typeface="Aptos"/>
              </a:rPr>
              <a:t>Risk groups are probability-based segments, not guarantees that a customer will churn.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56F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C2D40"/>
                </a:solidFill>
                <a:latin typeface="Aptos"/>
              </a:rPr>
              <a:t>Retention strategy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56F"/>
                </a:solidFill>
                <a:latin typeface="Aptos"/>
              </a:rPr>
              <a:t>The model is most useful when its predictions lead to a specific customer action.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53312"/>
            <a:ext cx="10927080" cy="22860"/>
          </a:xfrm>
          <a:prstGeom prst="rect">
            <a:avLst/>
          </a:prstGeom>
          <a:solidFill>
            <a:srgbClr val="E5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3383280" cy="2240280"/>
          </a:xfrm>
          <a:prstGeom prst="roundRect">
            <a:avLst/>
          </a:prstGeom>
          <a:solidFill>
            <a:srgbClr val="F2F4F6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6596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766A0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947672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2D40"/>
                </a:solidFill>
                <a:latin typeface="Aptos"/>
              </a:rPr>
              <a:t>Reduce early churn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514600"/>
            <a:ext cx="28803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56F"/>
                </a:solidFill>
                <a:latin typeface="Aptos"/>
              </a:rPr>
              <a:t>Focus on new and month-to-month customers with onboarding, check-ins and plan guidance.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783080"/>
            <a:ext cx="3383280" cy="2240280"/>
          </a:xfrm>
          <a:prstGeom prst="roundRect">
            <a:avLst/>
          </a:prstGeom>
          <a:solidFill>
            <a:srgbClr val="F2F4F6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196596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766A0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947672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2D40"/>
                </a:solidFill>
                <a:latin typeface="Aptos"/>
              </a:rPr>
              <a:t>Address service friction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514600"/>
            <a:ext cx="28803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56F"/>
                </a:solidFill>
                <a:latin typeface="Aptos"/>
              </a:rPr>
              <a:t>Use support/security signals to identify customers who may need help before they leave.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1783080"/>
            <a:ext cx="3383280" cy="2240280"/>
          </a:xfrm>
          <a:prstGeom prst="roundRect">
            <a:avLst/>
          </a:prstGeom>
          <a:solidFill>
            <a:srgbClr val="F2F4F6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0728" y="196596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766A0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947672"/>
            <a:ext cx="2514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C2D40"/>
                </a:solidFill>
                <a:latin typeface="Aptos"/>
              </a:rPr>
              <a:t>Test targeted offers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0728" y="2514600"/>
            <a:ext cx="28803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56F"/>
                </a:solidFill>
                <a:latin typeface="Aptos"/>
              </a:rPr>
              <a:t>Use risk scores to prioritize incentives instead of giving discounts to everyone.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48056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766A0"/>
                </a:solidFill>
                <a:latin typeface="Aptos"/>
              </a:rPr>
              <a:t>Bottom 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92040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C2D40"/>
                </a:solidFill>
                <a:latin typeface="Aptos"/>
              </a:rPr>
              <a:t>A tuned Random Forest gives a practical balance between identifying churners and keeping the model useful for a retention workflow.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62356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C656F"/>
                </a:solidFill>
                <a:latin typeface="Aptos"/>
              </a:rPr>
              <a:t>Next step: connect these risk scores to customer-level actions and measure whether targeted retention actually reduces churn.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C656F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